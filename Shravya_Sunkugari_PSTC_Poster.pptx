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384048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hpglOdosmPHjJrdbfnUrp6DwsI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3BFE54-4CD8-4C8B-A066-74A868A372A7}">
  <a:tblStyle styleId="{3B3BFE54-4CD8-4C8B-A066-74A868A372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628775" y="1143000"/>
            <a:ext cx="360045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4040497f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a4040497f8_0_20:notes"/>
          <p:cNvSpPr/>
          <p:nvPr>
            <p:ph idx="2" type="sldImg"/>
          </p:nvPr>
        </p:nvSpPr>
        <p:spPr>
          <a:xfrm>
            <a:off x="1628775" y="1143000"/>
            <a:ext cx="3600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38100" y="0"/>
            <a:ext cx="38404800" cy="5943600"/>
          </a:xfrm>
          <a:prstGeom prst="rect">
            <a:avLst/>
          </a:prstGeom>
          <a:solidFill>
            <a:srgbClr val="4F80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3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0" y="3300020"/>
            <a:ext cx="24231600" cy="1230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None/>
              <a:defRPr sz="8400"/>
            </a:lvl2pPr>
            <a:lvl3pPr lvl="2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sz="7560"/>
            </a:lvl3pPr>
            <a:lvl4pPr lvl="3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4pPr>
            <a:lvl5pPr lvl="4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5pPr>
            <a:lvl6pPr lvl="5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6pPr>
            <a:lvl7pPr lvl="6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7pPr>
            <a:lvl8pPr lvl="7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8pPr>
            <a:lvl9pPr lvl="8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38100" y="386716"/>
            <a:ext cx="24231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Georgia"/>
              <a:buNone/>
              <a:defRPr b="1" sz="15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38100" y="4404920"/>
            <a:ext cx="24231600" cy="1512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Georgia"/>
              <a:buNone/>
              <a:defRPr sz="8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0" name="Google Shape;20;p4"/>
          <p:cNvCxnSpPr/>
          <p:nvPr/>
        </p:nvCxnSpPr>
        <p:spPr>
          <a:xfrm>
            <a:off x="12801600" y="6858000"/>
            <a:ext cx="0" cy="25146000"/>
          </a:xfrm>
          <a:prstGeom prst="straightConnector1">
            <a:avLst/>
          </a:prstGeom>
          <a:noFill/>
          <a:ln cap="flat" cmpd="sng" w="19050">
            <a:solidFill>
              <a:srgbClr val="4F80B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4"/>
          <p:cNvCxnSpPr/>
          <p:nvPr/>
        </p:nvCxnSpPr>
        <p:spPr>
          <a:xfrm>
            <a:off x="25603200" y="6858000"/>
            <a:ext cx="0" cy="25146000"/>
          </a:xfrm>
          <a:prstGeom prst="straightConnector1">
            <a:avLst/>
          </a:prstGeom>
          <a:noFill/>
          <a:ln cap="flat" cmpd="sng" w="19050">
            <a:solidFill>
              <a:srgbClr val="4F80B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idx="3" type="body"/>
          </p:nvPr>
        </p:nvSpPr>
        <p:spPr>
          <a:xfrm>
            <a:off x="914400" y="6858000"/>
            <a:ext cx="11430000" cy="12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4" type="body"/>
          </p:nvPr>
        </p:nvSpPr>
        <p:spPr>
          <a:xfrm>
            <a:off x="914400" y="19659600"/>
            <a:ext cx="11430000" cy="12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5" type="body"/>
          </p:nvPr>
        </p:nvSpPr>
        <p:spPr>
          <a:xfrm>
            <a:off x="13258800" y="6858000"/>
            <a:ext cx="11887200" cy="25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6" type="body"/>
          </p:nvPr>
        </p:nvSpPr>
        <p:spPr>
          <a:xfrm>
            <a:off x="26060400" y="6858000"/>
            <a:ext cx="11430000" cy="12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7" type="body"/>
          </p:nvPr>
        </p:nvSpPr>
        <p:spPr>
          <a:xfrm>
            <a:off x="26060400" y="19659600"/>
            <a:ext cx="11430000" cy="12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89100" y="1904442"/>
            <a:ext cx="10058400" cy="2418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76200" y="-154824"/>
            <a:ext cx="38404800" cy="5943600"/>
          </a:xfrm>
          <a:prstGeom prst="rect">
            <a:avLst/>
          </a:prstGeom>
          <a:solidFill>
            <a:srgbClr val="4F80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3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81000" y="3170267"/>
            <a:ext cx="24231600" cy="1230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None/>
              <a:defRPr sz="8400"/>
            </a:lvl2pPr>
            <a:lvl3pPr lvl="2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sz="7560"/>
            </a:lvl3pPr>
            <a:lvl4pPr lvl="3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4pPr>
            <a:lvl5pPr lvl="4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5pPr>
            <a:lvl6pPr lvl="5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6pPr>
            <a:lvl7pPr lvl="6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7pPr>
            <a:lvl8pPr lvl="7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8pPr>
            <a:lvl9pPr lvl="8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228600" y="4239491"/>
            <a:ext cx="24231600" cy="1512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Georgia"/>
              <a:buNone/>
              <a:defRPr sz="8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2" name="Google Shape;32;p5"/>
          <p:cNvCxnSpPr/>
          <p:nvPr/>
        </p:nvCxnSpPr>
        <p:spPr>
          <a:xfrm>
            <a:off x="12801600" y="6858000"/>
            <a:ext cx="0" cy="25146000"/>
          </a:xfrm>
          <a:prstGeom prst="straightConnector1">
            <a:avLst/>
          </a:prstGeom>
          <a:noFill/>
          <a:ln cap="flat" cmpd="sng" w="19050">
            <a:solidFill>
              <a:srgbClr val="4F80B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" name="Google Shape;33;p5"/>
          <p:cNvCxnSpPr/>
          <p:nvPr/>
        </p:nvCxnSpPr>
        <p:spPr>
          <a:xfrm>
            <a:off x="25603200" y="6858000"/>
            <a:ext cx="0" cy="25146000"/>
          </a:xfrm>
          <a:prstGeom prst="straightConnector1">
            <a:avLst/>
          </a:prstGeom>
          <a:noFill/>
          <a:ln cap="flat" cmpd="sng" w="19050">
            <a:solidFill>
              <a:srgbClr val="4F80B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" name="Google Shape;34;p5"/>
          <p:cNvSpPr txBox="1"/>
          <p:nvPr>
            <p:ph idx="3" type="body"/>
          </p:nvPr>
        </p:nvSpPr>
        <p:spPr>
          <a:xfrm>
            <a:off x="914400" y="6858000"/>
            <a:ext cx="114300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4" type="body"/>
          </p:nvPr>
        </p:nvSpPr>
        <p:spPr>
          <a:xfrm>
            <a:off x="914400" y="15316200"/>
            <a:ext cx="114300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5" type="body"/>
          </p:nvPr>
        </p:nvSpPr>
        <p:spPr>
          <a:xfrm>
            <a:off x="13258800" y="6858000"/>
            <a:ext cx="118872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6" type="body"/>
          </p:nvPr>
        </p:nvSpPr>
        <p:spPr>
          <a:xfrm>
            <a:off x="26060400" y="6858000"/>
            <a:ext cx="11430000" cy="13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228600" y="0"/>
            <a:ext cx="24231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Georgia"/>
              <a:buNone/>
              <a:defRPr b="1" sz="15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7" type="body"/>
          </p:nvPr>
        </p:nvSpPr>
        <p:spPr>
          <a:xfrm>
            <a:off x="914400" y="23774400"/>
            <a:ext cx="114300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8" type="body"/>
          </p:nvPr>
        </p:nvSpPr>
        <p:spPr>
          <a:xfrm>
            <a:off x="26060400" y="26289000"/>
            <a:ext cx="11430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9" type="body"/>
          </p:nvPr>
        </p:nvSpPr>
        <p:spPr>
          <a:xfrm>
            <a:off x="26060400" y="20345400"/>
            <a:ext cx="11430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3" type="body"/>
          </p:nvPr>
        </p:nvSpPr>
        <p:spPr>
          <a:xfrm>
            <a:off x="13284199" y="23774400"/>
            <a:ext cx="11861799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060400" y="1172441"/>
            <a:ext cx="10058400" cy="2418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2620330" y="8206749"/>
            <a:ext cx="33124140" cy="13693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0"/>
              <a:buFont typeface="Calibri"/>
              <a:buNone/>
              <a:defRPr sz="2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2620330" y="22029429"/>
            <a:ext cx="33124140" cy="7200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0080"/>
              <a:buNone/>
              <a:defRPr sz="1008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8400"/>
              <a:buNone/>
              <a:defRPr sz="8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7560"/>
              <a:buNone/>
              <a:defRPr sz="756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6720"/>
              <a:buNone/>
              <a:defRPr sz="671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2640330" y="1752607"/>
            <a:ext cx="3312414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2640330" y="8763000"/>
            <a:ext cx="1632204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19442430" y="8763000"/>
            <a:ext cx="1632204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2645332" y="1752607"/>
            <a:ext cx="3312414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2645336" y="8069582"/>
            <a:ext cx="16247028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0080"/>
              <a:buNone/>
              <a:defRPr b="1" sz="10080"/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None/>
              <a:defRPr b="1" sz="8400"/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b="1" sz="7560"/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9pPr>
          </a:lstStyle>
          <a:p/>
        </p:txBody>
      </p:sp>
      <p:sp>
        <p:nvSpPr>
          <p:cNvPr id="60" name="Google Shape;60;p8"/>
          <p:cNvSpPr txBox="1"/>
          <p:nvPr>
            <p:ph idx="2" type="body"/>
          </p:nvPr>
        </p:nvSpPr>
        <p:spPr>
          <a:xfrm>
            <a:off x="2645336" y="12024360"/>
            <a:ext cx="16247028" cy="176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3" type="body"/>
          </p:nvPr>
        </p:nvSpPr>
        <p:spPr>
          <a:xfrm>
            <a:off x="19442432" y="8069582"/>
            <a:ext cx="16327042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0080"/>
              <a:buNone/>
              <a:defRPr b="1" sz="10080"/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None/>
              <a:defRPr b="1" sz="8400"/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b="1" sz="7560"/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b="1" sz="6719"/>
            </a:lvl9pPr>
          </a:lstStyle>
          <a:p/>
        </p:txBody>
      </p:sp>
      <p:sp>
        <p:nvSpPr>
          <p:cNvPr id="62" name="Google Shape;62;p8"/>
          <p:cNvSpPr txBox="1"/>
          <p:nvPr>
            <p:ph idx="4" type="body"/>
          </p:nvPr>
        </p:nvSpPr>
        <p:spPr>
          <a:xfrm>
            <a:off x="19442432" y="12024360"/>
            <a:ext cx="16327042" cy="176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2640330" y="1752607"/>
            <a:ext cx="3312414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2645332" y="2194560"/>
            <a:ext cx="12386548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Calibri"/>
              <a:buNone/>
              <a:defRPr sz="1343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16327042" y="4739647"/>
            <a:ext cx="1944243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08204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13439"/>
            </a:lvl1pPr>
            <a:lvl2pPr indent="-97536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760"/>
              <a:buChar char="•"/>
              <a:defRPr sz="11760"/>
            </a:lvl2pPr>
            <a:lvl3pPr indent="-86868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 sz="10080"/>
            </a:lvl3pPr>
            <a:lvl4pPr indent="-7620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4pPr>
            <a:lvl5pPr indent="-7620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5pPr>
            <a:lvl6pPr indent="-7620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6pPr>
            <a:lvl7pPr indent="-7620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7pPr>
            <a:lvl8pPr indent="-7620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8pPr>
            <a:lvl9pPr indent="-7620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2645332" y="9875520"/>
            <a:ext cx="12386548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5880"/>
              <a:buNone/>
              <a:defRPr sz="5880"/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2645332" y="2194560"/>
            <a:ext cx="12386548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Calibri"/>
              <a:buNone/>
              <a:defRPr sz="1343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/>
          <p:nvPr>
            <p:ph idx="2" type="pic"/>
          </p:nvPr>
        </p:nvSpPr>
        <p:spPr>
          <a:xfrm>
            <a:off x="16327042" y="4739647"/>
            <a:ext cx="1944243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2645332" y="9875520"/>
            <a:ext cx="12386548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1pPr>
            <a:lvl2pPr indent="-2286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5880"/>
              <a:buNone/>
              <a:defRPr sz="5880"/>
            </a:lvl2pPr>
            <a:lvl3pPr indent="-2286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3pPr>
            <a:lvl4pPr indent="-2286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4pPr>
            <a:lvl5pPr indent="-2286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5pPr>
            <a:lvl6pPr indent="-2286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6pPr>
            <a:lvl7pPr indent="-2286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7pPr>
            <a:lvl8pPr indent="-2286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8pPr>
            <a:lvl9pPr indent="-2286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2640330" y="1752607"/>
            <a:ext cx="3312414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 rot="5400000">
            <a:off x="8759189" y="2644141"/>
            <a:ext cx="20886422" cy="33124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 rot="5400000">
            <a:off x="17675544" y="11560494"/>
            <a:ext cx="27896822" cy="828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 rot="5400000">
            <a:off x="873443" y="3519488"/>
            <a:ext cx="27896822" cy="24363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2640330" y="1752607"/>
            <a:ext cx="3312414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480"/>
              <a:buFont typeface="Calibri"/>
              <a:buNone/>
              <a:defRPr b="0" i="0" sz="18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2640330" y="8763000"/>
            <a:ext cx="3312414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75360" lvl="0" marL="457200" marR="0" rtl="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1760"/>
              <a:buFont typeface="Arial"/>
              <a:buChar char="•"/>
              <a:defRPr b="0" i="0" sz="117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68680" lvl="1" marL="9144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080"/>
              <a:buFont typeface="Arial"/>
              <a:buChar char="•"/>
              <a:defRPr b="0" i="0" sz="10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0" lvl="2" marL="13716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b="0" i="0" sz="8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08660" lvl="3" marL="18288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08660" lvl="4" marL="22860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08660" lvl="5" marL="27432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08660" lvl="6" marL="32004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08660" lvl="7" marL="36576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08659" lvl="8" marL="41148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0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sciencedirect.com/science/article/abs/pii/S0140988315001425" TargetMode="External"/><Relationship Id="rId22" Type="http://schemas.openxmlformats.org/officeDocument/2006/relationships/hyperlink" Target="https://ethanolrfa.org/file/2032/Imperfect-Subsitutes_Pouliot-Babcock_2014.pdf" TargetMode="External"/><Relationship Id="rId21" Type="http://schemas.openxmlformats.org/officeDocument/2006/relationships/hyperlink" Target="https://ethanolrfa.org/file/2032/Imperfect-Subsitutes_Pouliot-Babcock_2014.pdf" TargetMode="External"/><Relationship Id="rId24" Type="http://schemas.openxmlformats.org/officeDocument/2006/relationships/hyperlink" Target="https://www.usda.gov/sites/default/files/documents/e15-market-opportunities.pdf" TargetMode="External"/><Relationship Id="rId23" Type="http://schemas.openxmlformats.org/officeDocument/2006/relationships/hyperlink" Target="https://www.usda.gov/sites/default/files/documents/e15-market-opportunities.pdf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ciencedirect.com/science/article/pii/S0965856418310784" TargetMode="External"/><Relationship Id="rId4" Type="http://schemas.openxmlformats.org/officeDocument/2006/relationships/hyperlink" Target="https://www.sciencedirect.com/science/article/pii/S0965856418310784" TargetMode="External"/><Relationship Id="rId9" Type="http://schemas.openxmlformats.org/officeDocument/2006/relationships/hyperlink" Target="https://jfhoude.econ.wisc.edu/wp-content/uploads/sites/769/2018/08/Houde_AER2012.pdf" TargetMode="External"/><Relationship Id="rId26" Type="http://schemas.openxmlformats.org/officeDocument/2006/relationships/hyperlink" Target="https://economics.fiu.edu/research/pdfs/2016_working_papers/1602.pdf" TargetMode="External"/><Relationship Id="rId25" Type="http://schemas.openxmlformats.org/officeDocument/2006/relationships/hyperlink" Target="https://economics.fiu.edu/research/pdfs/2016_working_papers/1602.pdf" TargetMode="External"/><Relationship Id="rId28" Type="http://schemas.openxmlformats.org/officeDocument/2006/relationships/hyperlink" Target="https://www.eia.gov/petroleum/ethanolcapacity/" TargetMode="External"/><Relationship Id="rId27" Type="http://schemas.openxmlformats.org/officeDocument/2006/relationships/hyperlink" Target="https://www.eia.gov/petroleum/ethanolcapacity/" TargetMode="External"/><Relationship Id="rId5" Type="http://schemas.openxmlformats.org/officeDocument/2006/relationships/hyperlink" Target="https://www.sciencedirect.com/science/article/abs/pii/S0140988312002575" TargetMode="External"/><Relationship Id="rId6" Type="http://schemas.openxmlformats.org/officeDocument/2006/relationships/hyperlink" Target="https://www.sciencedirect.com/science/article/abs/pii/S0140988312002575" TargetMode="External"/><Relationship Id="rId29" Type="http://schemas.openxmlformats.org/officeDocument/2006/relationships/hyperlink" Target="https://koordinates.com/data/?q=petroleum" TargetMode="External"/><Relationship Id="rId7" Type="http://schemas.openxmlformats.org/officeDocument/2006/relationships/hyperlink" Target="https://www.sciencedirect.com/science/article/pii/S0167718708000283" TargetMode="External"/><Relationship Id="rId8" Type="http://schemas.openxmlformats.org/officeDocument/2006/relationships/hyperlink" Target="https://www.sciencedirect.com/science/article/pii/S0167718708000283" TargetMode="External"/><Relationship Id="rId31" Type="http://schemas.openxmlformats.org/officeDocument/2006/relationships/hyperlink" Target="https://gasprices.aaa.com/" TargetMode="External"/><Relationship Id="rId30" Type="http://schemas.openxmlformats.org/officeDocument/2006/relationships/hyperlink" Target="https://koordinates.com/data/?q=petroleum" TargetMode="External"/><Relationship Id="rId11" Type="http://schemas.openxmlformats.org/officeDocument/2006/relationships/hyperlink" Target="https://www.card.iastate.edu/products/publications/pdf/08wp467.pdf" TargetMode="External"/><Relationship Id="rId33" Type="http://schemas.openxmlformats.org/officeDocument/2006/relationships/hyperlink" Target="https://gasprices.aaa.com/" TargetMode="External"/><Relationship Id="rId10" Type="http://schemas.openxmlformats.org/officeDocument/2006/relationships/hyperlink" Target="https://www.card.iastate.edu/products/publications/pdf/08wp467.pdf" TargetMode="External"/><Relationship Id="rId32" Type="http://schemas.openxmlformats.org/officeDocument/2006/relationships/hyperlink" Target="https://gasprices.aaa.com/" TargetMode="External"/><Relationship Id="rId13" Type="http://schemas.openxmlformats.org/officeDocument/2006/relationships/hyperlink" Target="https://ethanolrfa.org/file/2966/The%20Octane%20Value%20of%20Ethanol%20June%202025.pdf" TargetMode="External"/><Relationship Id="rId12" Type="http://schemas.openxmlformats.org/officeDocument/2006/relationships/hyperlink" Target="https://ethanolrfa.org/file/2966/The%20Octane%20Value%20of%20Ethanol%20June%202025.pdf" TargetMode="External"/><Relationship Id="rId15" Type="http://schemas.openxmlformats.org/officeDocument/2006/relationships/image" Target="../media/image7.jpg"/><Relationship Id="rId14" Type="http://schemas.openxmlformats.org/officeDocument/2006/relationships/image" Target="../media/image6.png"/><Relationship Id="rId17" Type="http://schemas.openxmlformats.org/officeDocument/2006/relationships/image" Target="../media/image5.png"/><Relationship Id="rId16" Type="http://schemas.openxmlformats.org/officeDocument/2006/relationships/image" Target="../media/image4.png"/><Relationship Id="rId19" Type="http://schemas.openxmlformats.org/officeDocument/2006/relationships/hyperlink" Target="https://www.sciencedirect.com/science/article/abs/pii/S0140988315001425" TargetMode="External"/><Relationship Id="rId1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AA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4040497f8_0_20"/>
          <p:cNvSpPr/>
          <p:nvPr/>
        </p:nvSpPr>
        <p:spPr>
          <a:xfrm>
            <a:off x="11277600" y="7010400"/>
            <a:ext cx="16516500" cy="25641300"/>
          </a:xfrm>
          <a:prstGeom prst="rect">
            <a:avLst/>
          </a:prstGeom>
          <a:solidFill>
            <a:srgbClr val="FFEA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a4040497f8_0_20"/>
          <p:cNvSpPr/>
          <p:nvPr/>
        </p:nvSpPr>
        <p:spPr>
          <a:xfrm>
            <a:off x="-102000" y="-264250"/>
            <a:ext cx="38583300" cy="6207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a4040497f8_0_20"/>
          <p:cNvSpPr txBox="1"/>
          <p:nvPr>
            <p:ph idx="1" type="subTitle"/>
          </p:nvPr>
        </p:nvSpPr>
        <p:spPr>
          <a:xfrm>
            <a:off x="419100" y="3818017"/>
            <a:ext cx="242316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Shravya Sunkugari | PSTC 1340 | Fall 2025    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4040497f8_0_20"/>
          <p:cNvSpPr txBox="1"/>
          <p:nvPr>
            <p:ph idx="3" type="body"/>
          </p:nvPr>
        </p:nvSpPr>
        <p:spPr>
          <a:xfrm>
            <a:off x="398900" y="6276375"/>
            <a:ext cx="9440700" cy="151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 Background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a4040497f8_0_20"/>
          <p:cNvSpPr txBox="1"/>
          <p:nvPr>
            <p:ph idx="4" type="body"/>
          </p:nvPr>
        </p:nvSpPr>
        <p:spPr>
          <a:xfrm>
            <a:off x="208550" y="17062579"/>
            <a:ext cx="9888000" cy="3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Ethanol biorefinery locations (U.S. EIA)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Petroleum refinery locations (U.S. EIA)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County-level gas prices (AAA)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a4040497f8_0_20"/>
          <p:cNvSpPr txBox="1"/>
          <p:nvPr>
            <p:ph idx="6" type="body"/>
          </p:nvPr>
        </p:nvSpPr>
        <p:spPr>
          <a:xfrm>
            <a:off x="27490200" y="10072250"/>
            <a:ext cx="10914600" cy="7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Proximity to both ethanol and petroleum refineries is significantly and negatively associated with gasoline prices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Counties in E15-policy states </a:t>
            </a:r>
            <a:r>
              <a:rPr lang="en-US" sz="4000">
                <a:latin typeface="Arial"/>
                <a:ea typeface="Arial"/>
                <a:cs typeface="Arial"/>
                <a:sym typeface="Arial"/>
              </a:rPr>
              <a:t>have</a:t>
            </a:r>
            <a:r>
              <a:rPr lang="en-US" sz="4000">
                <a:latin typeface="Arial"/>
                <a:ea typeface="Arial"/>
                <a:cs typeface="Arial"/>
                <a:sym typeface="Arial"/>
              </a:rPr>
              <a:t> significantly higher average prices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Model does not account for all price determinants (taxes, brand competition, local demand, refinery capacity)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~ 56% of variation in gas prices is </a:t>
            </a:r>
            <a:r>
              <a:rPr lang="en-US" sz="4000">
                <a:latin typeface="Arial"/>
                <a:ea typeface="Arial"/>
                <a:cs typeface="Arial"/>
                <a:sym typeface="Arial"/>
              </a:rPr>
              <a:t>unexplained </a:t>
            </a:r>
            <a:r>
              <a:rPr lang="en-US" sz="4000">
                <a:latin typeface="Arial"/>
                <a:ea typeface="Arial"/>
                <a:cs typeface="Arial"/>
                <a:sym typeface="Arial"/>
              </a:rPr>
              <a:t>despite controls for distance</a:t>
            </a:r>
            <a:br>
              <a:rPr lang="en-US" sz="4000">
                <a:latin typeface="Arial"/>
                <a:ea typeface="Arial"/>
                <a:cs typeface="Arial"/>
                <a:sym typeface="Arial"/>
              </a:rPr>
            </a:b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a4040497f8_0_20"/>
          <p:cNvSpPr txBox="1"/>
          <p:nvPr>
            <p:ph type="title"/>
          </p:nvPr>
        </p:nvSpPr>
        <p:spPr>
          <a:xfrm>
            <a:off x="-1333500" y="0"/>
            <a:ext cx="27736800" cy="34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150"/>
              <a:buFont typeface="Georgia"/>
              <a:buNone/>
            </a:pPr>
            <a:r>
              <a:rPr lang="en-US" sz="10940">
                <a:latin typeface="Arial"/>
                <a:ea typeface="Arial"/>
                <a:cs typeface="Arial"/>
                <a:sym typeface="Arial"/>
              </a:rPr>
              <a:t>How does Proximity to Ethanol Biorefineries affect Fuel Prices?</a:t>
            </a:r>
            <a:endParaRPr sz="13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a4040497f8_0_20"/>
          <p:cNvSpPr txBox="1"/>
          <p:nvPr>
            <p:ph idx="7" type="body"/>
          </p:nvPr>
        </p:nvSpPr>
        <p:spPr>
          <a:xfrm>
            <a:off x="208550" y="20711746"/>
            <a:ext cx="9440700" cy="10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Using ArcGIS Pro: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Calculated road-network distance from each county centroid to the nearest: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○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Ethanol refinery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○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Petroleum refinery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Joined</a:t>
            </a:r>
            <a:r>
              <a:rPr lang="en-US" sz="4000">
                <a:latin typeface="Arial"/>
                <a:ea typeface="Arial"/>
                <a:cs typeface="Arial"/>
                <a:sym typeface="Arial"/>
              </a:rPr>
              <a:t> distance values to county-level gasoline prices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Created maps showing refinery locations and gasoline price variation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Using RStudio: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Ran a multiple linear regression model using the network distance data: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Predictors: Distance to ethanol refinery, distance to petroleum refinery, state </a:t>
            </a:r>
            <a:r>
              <a:rPr lang="en-US" sz="4000">
                <a:latin typeface="Arial"/>
                <a:ea typeface="Arial"/>
                <a:cs typeface="Arial"/>
                <a:sym typeface="Arial"/>
              </a:rPr>
              <a:t>adaptation</a:t>
            </a:r>
            <a:r>
              <a:rPr lang="en-US" sz="4000">
                <a:latin typeface="Arial"/>
                <a:ea typeface="Arial"/>
                <a:cs typeface="Arial"/>
                <a:sym typeface="Arial"/>
              </a:rPr>
              <a:t> of E15 policy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Response Variable: County level gasoline price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a4040497f8_0_20"/>
          <p:cNvSpPr txBox="1"/>
          <p:nvPr>
            <p:ph idx="8" type="body"/>
          </p:nvPr>
        </p:nvSpPr>
        <p:spPr>
          <a:xfrm>
            <a:off x="28473930" y="30722256"/>
            <a:ext cx="42078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An Empirical Analysis of the Spatial Variability of Fuel Prices in the United States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https://www.sciencedirect.com/science/article/pii/S0965856418310784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On the Dynamics of Gasoline Market Integration in the United States: Evidence from a Pair-Wise Approach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https://www.sciencedirect.com/science/article/abs/pii/S0140988312002575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The Determinants of Spatial Differences in Retail Diesel Prices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https://www.sciencedirect.com/science/article/pii/S0167718708000283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Spatial Differentiation and Vertical Mergers in Retail Markets for Gasoline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https://jfhoude.econ.wisc.edu/wp-content/uploads/sites/769/2018/08/Houde_AER2012.pdf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Ethanol’s Role in the Fuel Market: Imperfect Substitutes and Market Interactions (CARD Working Paper)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0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https://www.card.iastate.edu/products/publications/pdf/08wp467.pdf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The Octane Value of Ethanol (Renewable Fuels Association, June 2025)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2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https://ethanolrfa.org/file/2966/The%20Octane%20Value%20of%20Ethanol%20June%202025.pdf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a4040497f8_0_20"/>
          <p:cNvSpPr txBox="1"/>
          <p:nvPr>
            <p:ph idx="9" type="body"/>
          </p:nvPr>
        </p:nvSpPr>
        <p:spPr>
          <a:xfrm>
            <a:off x="27490200" y="23431100"/>
            <a:ext cx="10600500" cy="58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Counties farther from ethanol and petroleum refineries have lower gas prices, reflecting external market forces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 Illinois and Iowa counties pay about 6 cents more per gallon on average which doesn’t necessarily reflect E15 policies, but all state factors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Factors like taxes and regional market structure drive gasoline price differences across counties more than proximity alone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a4040497f8_0_20"/>
          <p:cNvSpPr txBox="1"/>
          <p:nvPr>
            <p:ph idx="13" type="body"/>
          </p:nvPr>
        </p:nvSpPr>
        <p:spPr>
          <a:xfrm>
            <a:off x="13296850" y="23024300"/>
            <a:ext cx="118617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u="sng">
                <a:latin typeface="Arial"/>
                <a:ea typeface="Arial"/>
                <a:cs typeface="Arial"/>
                <a:sym typeface="Arial"/>
              </a:rPr>
              <a:t>States Not Implementing E15 Policy</a:t>
            </a:r>
            <a:endParaRPr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a4040497f8_0_20"/>
          <p:cNvSpPr txBox="1"/>
          <p:nvPr>
            <p:ph idx="3" type="body"/>
          </p:nvPr>
        </p:nvSpPr>
        <p:spPr>
          <a:xfrm>
            <a:off x="398900" y="7926315"/>
            <a:ext cx="94407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U.S. gasoline prices vary due to taxes, supply chains, refinery access, and local market conditions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10% ethanol (E10) is blended into most gasoline &amp; ethanol production is concentrated in the Midwest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In April 2025, select Midwestern states were allowed to sell E15 year-round</a:t>
            </a:r>
            <a:br>
              <a:rPr lang="en-US" sz="4000">
                <a:latin typeface="Arial"/>
                <a:ea typeface="Arial"/>
                <a:cs typeface="Arial"/>
                <a:sym typeface="Arial"/>
              </a:rPr>
            </a:b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-US" sz="4000">
                <a:latin typeface="Arial"/>
                <a:ea typeface="Arial"/>
                <a:cs typeface="Arial"/>
                <a:sym typeface="Arial"/>
              </a:rPr>
              <a:t> Analyze whether distance to ethanol refineries and E15 policy status influence county-level gasoline prices in four Midwestern, corn-producing states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a4040497f8_0_20"/>
          <p:cNvSpPr txBox="1"/>
          <p:nvPr>
            <p:ph idx="3" type="body"/>
          </p:nvPr>
        </p:nvSpPr>
        <p:spPr>
          <a:xfrm>
            <a:off x="27490150" y="6276375"/>
            <a:ext cx="10600500" cy="151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Discussion/ Limitations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3a4040497f8_0_20" title="image-removebg-preview (3)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817046" y="886325"/>
            <a:ext cx="10296525" cy="320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a4040497f8_0_20" title="Layout2.jpg"/>
          <p:cNvPicPr preferRelativeResize="0"/>
          <p:nvPr/>
        </p:nvPicPr>
        <p:blipFill rotWithShape="1">
          <a:blip r:embed="rId15">
            <a:alphaModFix/>
          </a:blip>
          <a:srcRect b="1346" l="50000" r="4387" t="61858"/>
          <a:stretch/>
        </p:blipFill>
        <p:spPr>
          <a:xfrm>
            <a:off x="18881884" y="12911291"/>
            <a:ext cx="8608267" cy="985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a4040497f8_0_20" title="Layout2.jpg"/>
          <p:cNvPicPr preferRelativeResize="0"/>
          <p:nvPr/>
        </p:nvPicPr>
        <p:blipFill rotWithShape="1">
          <a:blip r:embed="rId15">
            <a:alphaModFix/>
          </a:blip>
          <a:srcRect b="48323" l="1810" r="52577" t="17142"/>
          <a:stretch/>
        </p:blipFill>
        <p:spPr>
          <a:xfrm>
            <a:off x="10778715" y="12848875"/>
            <a:ext cx="8608292" cy="924990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a4040497f8_0_20"/>
          <p:cNvSpPr txBox="1"/>
          <p:nvPr>
            <p:ph idx="5" type="body"/>
          </p:nvPr>
        </p:nvSpPr>
        <p:spPr>
          <a:xfrm>
            <a:off x="13239750" y="11254725"/>
            <a:ext cx="118872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38"/>
              <a:buNone/>
            </a:pPr>
            <a:r>
              <a:rPr lang="en-US" sz="5537" u="sng">
                <a:latin typeface="Arial"/>
                <a:ea typeface="Arial"/>
                <a:cs typeface="Arial"/>
                <a:sym typeface="Arial"/>
              </a:rPr>
              <a:t>States </a:t>
            </a:r>
            <a:r>
              <a:rPr lang="en-US" sz="5537" u="sng">
                <a:latin typeface="Arial"/>
                <a:ea typeface="Arial"/>
                <a:cs typeface="Arial"/>
                <a:sym typeface="Arial"/>
              </a:rPr>
              <a:t>Implementing E15 Policy</a:t>
            </a:r>
            <a:endParaRPr sz="5537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38"/>
              <a:buNone/>
            </a:pPr>
            <a:r>
              <a:t/>
            </a:r>
            <a:endParaRPr sz="6037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g3a4040497f8_0_20" title="Layout2.jpg"/>
          <p:cNvPicPr preferRelativeResize="0"/>
          <p:nvPr/>
        </p:nvPicPr>
        <p:blipFill rotWithShape="1">
          <a:blip r:embed="rId15">
            <a:alphaModFix/>
          </a:blip>
          <a:srcRect b="50244" l="51505" r="7145" t="24849"/>
          <a:stretch/>
        </p:blipFill>
        <p:spPr>
          <a:xfrm>
            <a:off x="11265271" y="25497012"/>
            <a:ext cx="7803751" cy="667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a4040497f8_0_20" title="Layout2.jpg"/>
          <p:cNvPicPr preferRelativeResize="0"/>
          <p:nvPr/>
        </p:nvPicPr>
        <p:blipFill rotWithShape="1">
          <a:blip r:embed="rId15">
            <a:alphaModFix/>
          </a:blip>
          <a:srcRect b="5371" l="2695" r="55954" t="62862"/>
          <a:stretch/>
        </p:blipFill>
        <p:spPr>
          <a:xfrm>
            <a:off x="19284150" y="24410150"/>
            <a:ext cx="7803751" cy="850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a4040497f8_0_20"/>
          <p:cNvSpPr txBox="1"/>
          <p:nvPr/>
        </p:nvSpPr>
        <p:spPr>
          <a:xfrm>
            <a:off x="10235925" y="6316338"/>
            <a:ext cx="16857900" cy="4565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Legend</a:t>
            </a:r>
            <a:endParaRPr sz="7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g3a4040497f8_0_20" title="gas price per gallon by county.png"/>
          <p:cNvPicPr preferRelativeResize="0"/>
          <p:nvPr/>
        </p:nvPicPr>
        <p:blipFill rotWithShape="1">
          <a:blip r:embed="rId16">
            <a:alphaModFix/>
          </a:blip>
          <a:srcRect b="32138" l="0" r="25633" t="32694"/>
          <a:stretch/>
        </p:blipFill>
        <p:spPr>
          <a:xfrm>
            <a:off x="17337525" y="8272900"/>
            <a:ext cx="4865900" cy="228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a4040497f8_0_2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407725" y="8115934"/>
            <a:ext cx="6332423" cy="1882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a4040497f8_0_20" title="gas price per gallon by county.png"/>
          <p:cNvPicPr preferRelativeResize="0"/>
          <p:nvPr/>
        </p:nvPicPr>
        <p:blipFill rotWithShape="1">
          <a:blip r:embed="rId16">
            <a:alphaModFix/>
          </a:blip>
          <a:srcRect b="0" l="0" r="25633" t="67788"/>
          <a:stretch/>
        </p:blipFill>
        <p:spPr>
          <a:xfrm>
            <a:off x="22105731" y="8166784"/>
            <a:ext cx="4865902" cy="209595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a4040497f8_0_20"/>
          <p:cNvSpPr txBox="1"/>
          <p:nvPr/>
        </p:nvSpPr>
        <p:spPr>
          <a:xfrm>
            <a:off x="17648425" y="7453850"/>
            <a:ext cx="90408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Gasoline Price Per Gallon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3a4040497f8_0_2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8070100" y="16261801"/>
            <a:ext cx="9440701" cy="548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a4040497f8_0_20"/>
          <p:cNvSpPr txBox="1"/>
          <p:nvPr/>
        </p:nvSpPr>
        <p:spPr>
          <a:xfrm>
            <a:off x="11874150" y="24254875"/>
            <a:ext cx="48660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Iowa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a4040497f8_0_20"/>
          <p:cNvSpPr txBox="1"/>
          <p:nvPr/>
        </p:nvSpPr>
        <p:spPr>
          <a:xfrm>
            <a:off x="20194200" y="23911975"/>
            <a:ext cx="48660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Indiana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a4040497f8_0_20"/>
          <p:cNvSpPr txBox="1"/>
          <p:nvPr/>
        </p:nvSpPr>
        <p:spPr>
          <a:xfrm>
            <a:off x="10721225" y="12149775"/>
            <a:ext cx="48660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Missouri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a4040497f8_0_20"/>
          <p:cNvSpPr txBox="1"/>
          <p:nvPr/>
        </p:nvSpPr>
        <p:spPr>
          <a:xfrm>
            <a:off x="20194200" y="12149775"/>
            <a:ext cx="48660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Illinois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a4040497f8_0_20"/>
          <p:cNvSpPr txBox="1"/>
          <p:nvPr>
            <p:ph idx="3" type="body"/>
          </p:nvPr>
        </p:nvSpPr>
        <p:spPr>
          <a:xfrm>
            <a:off x="27490200" y="29121989"/>
            <a:ext cx="10600500" cy="151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Sources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a4040497f8_0_20"/>
          <p:cNvSpPr txBox="1"/>
          <p:nvPr>
            <p:ph idx="3" type="body"/>
          </p:nvPr>
        </p:nvSpPr>
        <p:spPr>
          <a:xfrm>
            <a:off x="27490200" y="21914215"/>
            <a:ext cx="10600500" cy="151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Conclusion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a4040497f8_0_20"/>
          <p:cNvSpPr txBox="1"/>
          <p:nvPr>
            <p:ph idx="3" type="body"/>
          </p:nvPr>
        </p:nvSpPr>
        <p:spPr>
          <a:xfrm>
            <a:off x="208400" y="15438719"/>
            <a:ext cx="9440700" cy="151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 Data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a4040497f8_0_20"/>
          <p:cNvSpPr txBox="1"/>
          <p:nvPr>
            <p:ph idx="3" type="body"/>
          </p:nvPr>
        </p:nvSpPr>
        <p:spPr>
          <a:xfrm>
            <a:off x="208400" y="19037587"/>
            <a:ext cx="9440700" cy="151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 Methodology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a4040497f8_0_20"/>
          <p:cNvSpPr txBox="1"/>
          <p:nvPr/>
        </p:nvSpPr>
        <p:spPr>
          <a:xfrm>
            <a:off x="199400" y="28068302"/>
            <a:ext cx="98397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GAS_PRICE = β</a:t>
            </a:r>
            <a:r>
              <a:rPr b="1" baseline="-25000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​+ β</a:t>
            </a:r>
            <a:r>
              <a:rPr b="1" baseline="-25000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​KM_ETHANOL  + β</a:t>
            </a:r>
            <a:r>
              <a:rPr b="1" baseline="-25000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​KM_PETROL + β</a:t>
            </a:r>
            <a:r>
              <a:rPr b="1" baseline="-25000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​E15 + ε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g3a4040497f8_0_20"/>
          <p:cNvGraphicFramePr/>
          <p:nvPr/>
        </p:nvGraphicFramePr>
        <p:xfrm>
          <a:off x="27490188" y="793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{3B3BFE54-4CD8-4C8B-A066-74A868A372A7}</a:tableStyleId>
              </a:tblPr>
              <a:tblGrid>
                <a:gridCol w="3696475"/>
                <a:gridCol w="3193225"/>
                <a:gridCol w="319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4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Estimate</a:t>
                      </a:r>
                      <a:endParaRPr b="1"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p-value</a:t>
                      </a:r>
                      <a:endParaRPr b="1"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KM_ETHANOL</a:t>
                      </a:r>
                      <a:endParaRPr b="1"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–0.001038</a:t>
                      </a:r>
                      <a:endParaRPr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&lt; 2e-16</a:t>
                      </a:r>
                      <a:endParaRPr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KM_PETROL</a:t>
                      </a:r>
                      <a:endParaRPr b="1"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–0.009091</a:t>
                      </a:r>
                      <a:endParaRPr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&lt; 2e-16</a:t>
                      </a:r>
                      <a:endParaRPr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E15</a:t>
                      </a:r>
                      <a:endParaRPr b="1"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0.0618</a:t>
                      </a:r>
                      <a:endParaRPr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0.000585</a:t>
                      </a:r>
                      <a:endParaRPr sz="3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g3a4040497f8_0_20"/>
          <p:cNvSpPr txBox="1"/>
          <p:nvPr>
            <p:ph idx="8" type="body"/>
          </p:nvPr>
        </p:nvSpPr>
        <p:spPr>
          <a:xfrm>
            <a:off x="32748630" y="30719367"/>
            <a:ext cx="42078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The Spatial Influence of Fuel Taxes and Ethanol Mandates on Gasoline Pricing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9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https://www.sciencedirect.com/science/article/abs/pii/S0140988315001425</a:t>
            </a:r>
            <a:endParaRPr b="1"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Imperfect Substitutes: The Elasticity of Substitution Between Gasoline and Ethanol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1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https://ethanolrfa.org/file/2032/Imperfect-Subsitutes_Pouliot-Babcock_2014.pdf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E15 Market Opportunities: Economic and Regulatory Assessment (USDA)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3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https://www.usda.gov/sites/default/files/documents/e15-market-opportunities.pdf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Understanding Gasoline Price Dispersion Across Time and Space (FIU Working Paper)</a:t>
            </a:r>
            <a:br>
              <a:rPr b="1" lang="en-US" sz="600">
                <a:latin typeface="Arial"/>
                <a:ea typeface="Arial"/>
                <a:cs typeface="Arial"/>
                <a:sym typeface="Arial"/>
              </a:rPr>
            </a:b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5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https://economics.fiu.edu/research/pdfs/2016_working_papers/1602.pdf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U.S. Fuel Ethanol Plant Capacity (EI</a:t>
            </a: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A)- </a:t>
            </a: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7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https://www.eia.gov/petroleum/ethanolcapacity/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Global Petroleum Infrastructure Data (Koordinates)- </a:t>
            </a: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9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0"/>
              </a:rPr>
              <a:t>https://koordinates.com/data/?q=petroleum</a:t>
            </a: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600">
                <a:latin typeface="Arial"/>
                <a:ea typeface="Arial"/>
                <a:cs typeface="Arial"/>
                <a:sym typeface="Arial"/>
              </a:rPr>
              <a:t>AAA Gas Prices – Daily Fuel Price Data - </a:t>
            </a:r>
            <a:r>
              <a:rPr lang="en-US" sz="6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1"/>
              </a:rPr>
              <a:t> </a:t>
            </a:r>
            <a: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2"/>
              </a:rPr>
              <a:t>https://gasprices.aaa.com/</a:t>
            </a:r>
            <a:br>
              <a:rPr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3"/>
              </a:rPr>
            </a:br>
            <a:endParaRPr sz="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2016-10-27T23:10:19Z</dcterms:created>
  <dc:creator>Microsoft Office User</dc:creator>
</cp:coreProperties>
</file>